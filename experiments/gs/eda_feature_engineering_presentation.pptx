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7d8ec16186f4968" /><Relationship Type="http://schemas.openxmlformats.org/officeDocument/2006/relationships/extended-properties" Target="/docProps/app.xml" Id="Rfe016690efa84150" /><Relationship Type="http://schemas.openxmlformats.org/officeDocument/2006/relationships/officeDocument" Target="/ppt/presentation.xml" Id="R1e5874ab43004a5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288a0418d984a5e"/>
  </p:sldMasterIdLst>
  <p:notesMasterIdLst>
    <p:notesMasterId xmlns:r="http://schemas.openxmlformats.org/officeDocument/2006/relationships" r:id="R0d0671d226464330"/>
  </p:notesMasterIdLst>
  <p:sldIdLst>
    <p:sldId xmlns:r="http://schemas.openxmlformats.org/officeDocument/2006/relationships" id="256" r:id="R7b2c0cf0080646ab"/>
    <p:sldId xmlns:r="http://schemas.openxmlformats.org/officeDocument/2006/relationships" id="257" r:id="R6d2e449d913741e0"/>
    <p:sldId xmlns:r="http://schemas.openxmlformats.org/officeDocument/2006/relationships" id="258" r:id="Rb860e956197f465e"/>
    <p:sldId xmlns:r="http://schemas.openxmlformats.org/officeDocument/2006/relationships" id="259" r:id="R97688b2b1be74936"/>
    <p:sldId xmlns:r="http://schemas.openxmlformats.org/officeDocument/2006/relationships" id="260" r:id="R00233a47bba94de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24f6a8e419f4d41" /><Relationship Type="http://schemas.openxmlformats.org/officeDocument/2006/relationships/slideMaster" Target="/ppt/slideMasters/slideMaster1.xml" Id="R2288a0418d984a5e" /><Relationship Type="http://schemas.openxmlformats.org/officeDocument/2006/relationships/notesMaster" Target="/ppt/notesMasters/notesMaster1.xml" Id="R0d0671d226464330" /><Relationship Type="http://schemas.openxmlformats.org/officeDocument/2006/relationships/presProps" Target="/ppt/presProps.xml" Id="Rc975b8480f554558" /><Relationship Type="http://schemas.openxmlformats.org/officeDocument/2006/relationships/tableStyles" Target="/ppt/tableStyles.xml" Id="Re543e5ee3c2f45ac" /><Relationship Type="http://schemas.openxmlformats.org/officeDocument/2006/relationships/slide" Target="/ppt/slides/slide1.xml" Id="R7b2c0cf0080646ab" /><Relationship Type="http://schemas.openxmlformats.org/officeDocument/2006/relationships/slide" Target="/ppt/slides/slide2.xml" Id="R6d2e449d913741e0" /><Relationship Type="http://schemas.openxmlformats.org/officeDocument/2006/relationships/slide" Target="/ppt/slides/slide3.xml" Id="Rb860e956197f465e" /><Relationship Type="http://schemas.openxmlformats.org/officeDocument/2006/relationships/slide" Target="/ppt/slides/slide4.xml" Id="R97688b2b1be74936" /><Relationship Type="http://schemas.openxmlformats.org/officeDocument/2006/relationships/slide" Target="/ppt/slides/slide5.xml" Id="R00233a47bba94de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7ac94c589b94ab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38e66d3a9014d4a" /><Relationship Type="http://schemas.openxmlformats.org/officeDocument/2006/relationships/notesMaster" Target="/ppt/notesMasters/notesMaster1.xml" Id="R55b1d5c44f1745a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0c38eab989f4b9f" /><Relationship Type="http://schemas.openxmlformats.org/officeDocument/2006/relationships/notesMaster" Target="/ppt/notesMasters/notesMaster1.xml" Id="Rff7d44dba9c4404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cb378d3601148f0" /><Relationship Type="http://schemas.openxmlformats.org/officeDocument/2006/relationships/notesMaster" Target="/ppt/notesMasters/notesMaster1.xml" Id="R39177ad4a7a744a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94b29585c90428a" /><Relationship Type="http://schemas.openxmlformats.org/officeDocument/2006/relationships/notesMaster" Target="/ppt/notesMasters/notesMaster1.xml" Id="R9e2a42c9f4cf42a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9f8b8f0b7c8465f" /><Relationship Type="http://schemas.openxmlformats.org/officeDocument/2006/relationships/notesMaster" Target="/ppt/notesMasters/notesMaster1.xml" Id="R1c37ea7db4f44cf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25dee8928984ac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dbe135740604457" /><Relationship Type="http://schemas.openxmlformats.org/officeDocument/2006/relationships/slideLayout" Target="/ppt/slideLayouts/slideLayout1.xml" Id="R2721191451a9490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721191451a9490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96b9141a694b17" /><Relationship Type="http://schemas.openxmlformats.org/officeDocument/2006/relationships/notesSlide" Target="/ppt/notesSlides/notesSlide1.xml" Id="R25ecdbcfb06248e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d8b78b657e41a3" /><Relationship Type="http://schemas.openxmlformats.org/officeDocument/2006/relationships/notesSlide" Target="/ppt/notesSlides/notesSlide2.xml" Id="R9211eef7e03d435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190d87c1b64e6a" /><Relationship Type="http://schemas.openxmlformats.org/officeDocument/2006/relationships/notesSlide" Target="/ppt/notesSlides/notesSlide3.xml" Id="Rc9a4e7cb53aa4fe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5d4c1b4a9d497e" /><Relationship Type="http://schemas.openxmlformats.org/officeDocument/2006/relationships/notesSlide" Target="/ppt/notesSlides/notesSlide4.xml" Id="R712661469508472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2a0c3c25804ed3" /><Relationship Type="http://schemas.openxmlformats.org/officeDocument/2006/relationships/notesSlide" Target="/ppt/notesSlides/notesSlide5.xml" Id="R17ad8e0072e64ee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2417252-C512-48E9-A97F-0DF3D9C03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EDA 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F284B4-3086-49FB-94B6-CB8859893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531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5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348AC3-40BF-4A50-930F-32982BBF9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428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CA3AF"/>
                </a:solidFill>
              </a:defRPr>
            </a:pPr>
            <a:r>
              <a:rPr sz="900" b="0">
                <a:solidFill>
                  <a:srgbClr val="9CA3AF"/>
                </a:solidFill>
              </a:rPr>
              <a:t>암 환자 유전체 변이 기반 암종 분류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36A812-3BC8-4410-B793-4090E5F25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34125"/>
            <a:ext cx="4095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CA3AF"/>
                </a:solidFill>
              </a:defRPr>
            </a:pPr>
            <a:r>
              <a:rPr sz="900" b="0">
                <a:solidFill>
                  <a:srgbClr val="9CA3AF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A9E4F2-6BEA-44BD-94A0-7C41EE28D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04875"/>
            <a:ext cx="78105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827"/>
                </a:solidFill>
              </a:defRPr>
            </a:pPr>
            <a:r>
              <a:rPr sz="3150" b="1">
                <a:solidFill>
                  <a:srgbClr val="111827"/>
                </a:solidFill>
              </a:rPr>
              <a:t>변이 문자열에는</a:t>
            </a:r>
          </a:p>
          <a:p xmlns:a="http://schemas.openxmlformats.org/drawingml/2006/main">
            <a:pPr algn="l">
              <a:defRPr sz="3150" b="1">
                <a:solidFill>
                  <a:srgbClr val="111827"/>
                </a:solidFill>
              </a:defRPr>
            </a:pPr>
            <a:r>
              <a:rPr sz="3150" b="1">
                <a:solidFill>
                  <a:srgbClr val="111827"/>
                </a:solidFill>
              </a:rPr>
              <a:t>암종을 구분할 단서가 있습니다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5D0224-D49F-4D4C-9AB1-85A1BAE77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5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30AFDE-4407-4E63-8A7E-CE9C657D9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238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563EB"/>
                </a:solidFill>
              </a:defRPr>
            </a:pPr>
            <a:r>
              <a:rPr sz="2400" b="1">
                <a:solidFill>
                  <a:srgbClr val="2563EB"/>
                </a:solidFill>
              </a:rPr>
              <a:t>6,201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E0DCE0-1BBA-4D54-927B-C990431CE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19475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B7280"/>
                </a:solidFill>
              </a:defRPr>
            </a:pPr>
            <a:r>
              <a:rPr sz="1125" b="0">
                <a:solidFill>
                  <a:srgbClr val="6B7280"/>
                </a:solidFill>
              </a:rPr>
              <a:t>Train 환자 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EB3827-42EA-43BB-A80E-44EC16345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857500"/>
            <a:ext cx="238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563EB"/>
                </a:solidFill>
              </a:defRPr>
            </a:pPr>
            <a:r>
              <a:rPr sz="2400" b="1">
                <a:solidFill>
                  <a:srgbClr val="2563EB"/>
                </a:solidFill>
              </a:rPr>
              <a:t>4,384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DAD34C-EBEF-4477-B15F-29019345F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419475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B7280"/>
                </a:solidFill>
              </a:defRPr>
            </a:pPr>
            <a:r>
              <a:rPr sz="1125" b="0">
                <a:solidFill>
                  <a:srgbClr val="6B7280"/>
                </a:solidFill>
              </a:rPr>
              <a:t>유전자 변수 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EA23C5-8883-42D9-B4CA-72D7637A1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857500"/>
            <a:ext cx="238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563EB"/>
                </a:solidFill>
              </a:defRPr>
            </a:pPr>
            <a:r>
              <a:rPr sz="2400" b="1">
                <a:solidFill>
                  <a:srgbClr val="2563EB"/>
                </a:solidFill>
              </a:rPr>
              <a:t>26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E793A0-0D4D-4F24-85B8-8031B0E7F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419475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B7280"/>
                </a:solidFill>
              </a:defRPr>
            </a:pPr>
            <a:r>
              <a:rPr sz="1125" b="0">
                <a:solidFill>
                  <a:srgbClr val="6B7280"/>
                </a:solidFill>
              </a:rPr>
              <a:t>암종 클래스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7C9ED4-CB00-40B8-BC17-F2E3A7558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14800"/>
            <a:ext cx="200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563EB"/>
                </a:solidFill>
              </a:defRPr>
            </a:pPr>
            <a:r>
              <a:rPr sz="2850" b="1">
                <a:solidFill>
                  <a:srgbClr val="2563EB"/>
                </a:solidFill>
              </a:rPr>
              <a:t>R132H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50F25D-1AC2-4EF5-A60A-153D98EE3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17195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9CA3AF"/>
                </a:solidFill>
              </a:defRPr>
            </a:pPr>
            <a:r>
              <a:rPr sz="2250" b="1">
                <a:solidFill>
                  <a:srgbClr val="9CA3AF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1004E7-B2D3-4BD8-AC7A-AFC6CF2D8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105275"/>
            <a:ext cx="4857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132번째 아미노산 R(아르기닌)이</a:t>
            </a:r>
          </a:p>
          <a:p xmlns:a="http://schemas.openxmlformats.org/drawingml/2006/main"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H(히스티딘)로 바뀐 변이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17D59D-5659-4703-BEBD-3BE0FA316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0"/>
            <a:ext cx="108204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7597A67-F2BF-4890-BFE9-DA3E8403E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0"/>
            <a:ext cx="47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08BA00C-C322-44BD-B4EC-B701C7279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248275"/>
            <a:ext cx="10239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대부분이 WT인 고차원 희소 데이터이며, 암종별 표본 수가 달라 Macro F1 기준의 균형 있는 분류가 필요합니다.</a:t>
            </a:r>
          </a:p>
        </p:txBody>
      </p:sp>
    </p:spTree>
    <p:extLst>
      <p:ext uri="{BB962C8B-B14F-4D97-AF65-F5344CB8AC3E}">
        <p14:creationId xmlns:p14="http://schemas.microsoft.com/office/powerpoint/2010/main" val="41250698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FDC71BE-0EB5-44E1-BE0F-6F406B645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SAFETY 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FE71C8-58EE-4857-9492-675C57CF6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531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5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DB7D64-1188-42C1-BBE9-B6B4EAC35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428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CA3AF"/>
                </a:solidFill>
              </a:defRPr>
            </a:pPr>
            <a:r>
              <a:rPr sz="900" b="0">
                <a:solidFill>
                  <a:srgbClr val="9CA3AF"/>
                </a:solidFill>
              </a:rPr>
              <a:t>암 환자 유전체 변이 기반 암종 분류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172F4C-DE24-4F16-8F1D-C57450E5D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34125"/>
            <a:ext cx="4095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CA3AF"/>
                </a:solidFill>
              </a:defRPr>
            </a:pPr>
            <a:r>
              <a:rPr sz="900" b="0">
                <a:solidFill>
                  <a:srgbClr val="9CA3AF"/>
                </a:solidFill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E9C218-7426-4909-8730-7ECFE229F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8858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변이 정보를 안전하게 다루는</a:t>
            </a:r>
          </a:p>
          <a:p xmlns:a="http://schemas.openxmlformats.org/drawingml/2006/main">
            <a:pPr algn="l"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전처리 기준을 세웠습니다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E62FC9-23C8-49CD-B5E0-D71140F6C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288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5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E6671F-1931-4C1A-98C0-600221B1F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0"/>
            <a:ext cx="514350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E3BB76-69E9-4243-9732-B88E25CDF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76500"/>
            <a:ext cx="4724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563EB"/>
                </a:solidFill>
              </a:defRPr>
            </a:pPr>
            <a:r>
              <a:rPr sz="1575" b="1">
                <a:solidFill>
                  <a:srgbClr val="2563EB"/>
                </a:solidFill>
              </a:rPr>
              <a:t>결측값 분리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211FFD-A956-4B81-BBF6-9C213055A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76550"/>
            <a:ext cx="47244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74151"/>
                </a:solidFill>
              </a:defRPr>
            </a:pPr>
            <a:r>
              <a:rPr sz="1200" b="0">
                <a:solidFill>
                  <a:srgbClr val="374151"/>
                </a:solidFill>
              </a:rPr>
              <a:t>WT·빈 문자열·NaN은 모두 mutation event 생성 대상에서 제외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1881EF-9A88-4C78-96E0-5F562959D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286000"/>
            <a:ext cx="514350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EF5B16-71F7-4706-8C2C-B8D898691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76500"/>
            <a:ext cx="4724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563EB"/>
                </a:solidFill>
              </a:defRPr>
            </a:pPr>
            <a:r>
              <a:rPr sz="1575" b="1">
                <a:solidFill>
                  <a:srgbClr val="2563EB"/>
                </a:solidFill>
              </a:rPr>
              <a:t>일관된 파싱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B98873-7AF5-4B82-8C4A-75D608059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876550"/>
            <a:ext cx="47244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74151"/>
                </a:solidFill>
              </a:defRPr>
            </a:pPr>
            <a:r>
              <a:rPr sz="1200" b="0">
                <a:solidFill>
                  <a:srgbClr val="374151"/>
                </a:solidFill>
              </a:rPr>
              <a:t>문자열을 유전자·변이유형·위치·아미노산 변화로 동일 문법에서 분해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012E2B-2538-4A72-A4E6-36F97FB47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62375"/>
            <a:ext cx="514350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C039B3-0A6C-4FFE-B25D-351B88076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52875"/>
            <a:ext cx="4724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563EB"/>
                </a:solidFill>
              </a:defRPr>
            </a:pPr>
            <a:r>
              <a:rPr sz="1575" b="1">
                <a:solidFill>
                  <a:srgbClr val="2563EB"/>
                </a:solidFill>
              </a:rPr>
              <a:t>자동 선택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0CE5DA-6E02-47E8-9128-09CA6BAFE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52925"/>
            <a:ext cx="47244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74151"/>
                </a:solidFill>
              </a:defRPr>
            </a:pPr>
            <a:r>
              <a:rPr sz="1200" b="0">
                <a:solidFill>
                  <a:srgbClr val="374151"/>
                </a:solidFill>
              </a:rPr>
              <a:t>반복 event와 feature vocabulary는 fold-train에서 자동으로 결정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5C9061-B15D-4903-8B88-634D9D3FB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762375"/>
            <a:ext cx="514350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58A5E8-A6F9-48DC-8982-1AC4B665C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952875"/>
            <a:ext cx="4724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563EB"/>
                </a:solidFill>
              </a:defRPr>
            </a:pPr>
            <a:r>
              <a:rPr sz="1575" b="1">
                <a:solidFill>
                  <a:srgbClr val="2563EB"/>
                </a:solidFill>
              </a:rPr>
              <a:t>희귀 신호 안정화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E4479D-473C-42F0-BD77-FD398616F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352925"/>
            <a:ext cx="47244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74151"/>
                </a:solidFill>
              </a:defRPr>
            </a:pPr>
            <a:r>
              <a:rPr sz="1200" b="0">
                <a:solidFill>
                  <a:srgbClr val="374151"/>
                </a:solidFill>
              </a:rPr>
              <a:t>희귀 변이를 일괄 제거하지 않고 과도한 영향만 보수적으로 낮춤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44D1C3C-8449-431C-9435-AD741497F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8204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194C334-E061-4543-B3BC-A7F1D46BC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47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0A484A7-C3BD-4F5E-9865-5EDAC3989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419725"/>
            <a:ext cx="10239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데이터를 임의로 보강하기보다, 원본 변이 문자열의 의미를 안전하게 보존하는 전처리에 집중했습니다.</a:t>
            </a:r>
          </a:p>
        </p:txBody>
      </p:sp>
    </p:spTree>
    <p:extLst>
      <p:ext uri="{BB962C8B-B14F-4D97-AF65-F5344CB8AC3E}">
        <p14:creationId xmlns:p14="http://schemas.microsoft.com/office/powerpoint/2010/main" val="82020530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2B68F10-563F-4E06-A149-09C3E7F56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FEATURE ENGINEERING 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7A52D2-091C-4023-A690-7F2196DBB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531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5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98AD67-D3AF-4705-B22D-629FCFA55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428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CA3AF"/>
                </a:solidFill>
              </a:defRPr>
            </a:pPr>
            <a:r>
              <a:rPr sz="900" b="0">
                <a:solidFill>
                  <a:srgbClr val="9CA3AF"/>
                </a:solidFill>
              </a:rPr>
              <a:t>암 환자 유전체 변이 기반 암종 분류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518D58-9408-4092-AFAE-9B04C08CB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34125"/>
            <a:ext cx="4095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CA3AF"/>
                </a:solidFill>
              </a:defRPr>
            </a:pPr>
            <a:r>
              <a:rPr sz="900" b="0">
                <a:solidFill>
                  <a:srgbClr val="9CA3AF"/>
                </a:solidFill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C8982B-7350-49DA-8951-387F2556D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8096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변이 존재 여부를 넘어</a:t>
            </a:r>
          </a:p>
          <a:p xmlns:a="http://schemas.openxmlformats.org/drawingml/2006/main">
            <a:pPr algn="l"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변이의 성격까지 구조화했습니다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38DBCA-82D2-4A14-8CFD-47B93FD52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5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5A6894-C965-45D3-9056-913E241E1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19375"/>
            <a:ext cx="5143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6EF9E2-D27F-47B6-A97A-629E8D5AD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09875"/>
            <a:ext cx="4724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563EB"/>
                </a:solidFill>
              </a:defRPr>
            </a:pPr>
            <a:r>
              <a:rPr sz="1575" b="1">
                <a:solidFill>
                  <a:srgbClr val="2563EB"/>
                </a:solidFill>
              </a:rPr>
              <a:t>유전자 변이 여부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3DCCFF-EDCC-43BA-8D1C-71F1B2BC2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09925"/>
            <a:ext cx="4724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74151"/>
                </a:solidFill>
              </a:defRPr>
            </a:pPr>
            <a:r>
              <a:rPr sz="1200" b="0">
                <a:solidFill>
                  <a:srgbClr val="374151"/>
                </a:solidFill>
              </a:rPr>
              <a:t>WT는 0, 유효 변이는 1. 암종별 반복 유전자 변이 신호를 반영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30564E-1045-487D-8504-6C2C3D467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619375"/>
            <a:ext cx="5143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3644BF-FC70-4671-B3EF-80375F474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809875"/>
            <a:ext cx="4724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563EB"/>
                </a:solidFill>
              </a:defRPr>
            </a:pPr>
            <a:r>
              <a:rPr sz="1575" b="1">
                <a:solidFill>
                  <a:srgbClr val="2563EB"/>
                </a:solidFill>
              </a:rPr>
              <a:t>변이 부담량·구조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06AEB0-57F3-4E6A-8BAD-457594F99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209925"/>
            <a:ext cx="4724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74151"/>
                </a:solidFill>
              </a:defRPr>
            </a:pPr>
            <a:r>
              <a:rPr sz="1200" b="0">
                <a:solidFill>
                  <a:srgbClr val="374151"/>
                </a:solidFill>
              </a:rPr>
              <a:t>전체 변이 수, 유형별 수, truncating 변이, 다양성, log1p 규모 안정화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C2FE86-2BE9-4D9A-AD27-7AD451EAA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8125"/>
            <a:ext cx="5143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5B28F6-DF08-415A-B4F7-5DE920D77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38625"/>
            <a:ext cx="4724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563EB"/>
                </a:solidFill>
              </a:defRPr>
            </a:pPr>
            <a:r>
              <a:rPr sz="1575" b="1">
                <a:solidFill>
                  <a:srgbClr val="2563EB"/>
                </a:solidFill>
              </a:rPr>
              <a:t>기능성 변이 유형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8A6E2C-EDF7-4FB8-9447-7CCE19B75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638675"/>
            <a:ext cx="4724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74151"/>
                </a:solidFill>
              </a:defRPr>
            </a:pPr>
            <a:r>
              <a:rPr sz="1200" b="0">
                <a:solidFill>
                  <a:srgbClr val="374151"/>
                </a:solidFill>
              </a:rPr>
              <a:t>missense, nonsense, frameshift, synonymous 등 단백질 영향 차이를 분리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CDC785-7A25-482C-B5C8-16FAF158C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048125"/>
            <a:ext cx="5143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4DFDD7-3036-4959-85E5-DCD4BEBD0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238625"/>
            <a:ext cx="4724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563EB"/>
                </a:solidFill>
              </a:defRPr>
            </a:pPr>
            <a:r>
              <a:rPr sz="1575" b="1">
                <a:solidFill>
                  <a:srgbClr val="2563EB"/>
                </a:solidFill>
              </a:rPr>
              <a:t>아미노산 치환 방향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E4DCDB5-C491-4752-A765-6E5E365D0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638675"/>
            <a:ext cx="4724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74151"/>
                </a:solidFill>
              </a:defRPr>
            </a:pPr>
            <a:r>
              <a:rPr sz="1200" b="0">
                <a:solidFill>
                  <a:srgbClr val="374151"/>
                </a:solidFill>
              </a:rPr>
              <a:t>R132H를 R→H로 변환해 유전자 단위만으로 놓치는 변이 성질을 보완</a:t>
            </a:r>
          </a:p>
        </p:txBody>
      </p:sp>
    </p:spTree>
    <p:extLst>
      <p:ext uri="{BB962C8B-B14F-4D97-AF65-F5344CB8AC3E}">
        <p14:creationId xmlns:p14="http://schemas.microsoft.com/office/powerpoint/2010/main" val="109270110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7B49CA2-24E2-450D-AE3D-43E9977A5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CORE IDEA 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A60A0D-F2F8-47C4-B902-1053E8DCB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531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5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A2695B-D274-4270-9B3C-4896C59F6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428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CA3AF"/>
                </a:solidFill>
              </a:defRPr>
            </a:pPr>
            <a:r>
              <a:rPr sz="900" b="0">
                <a:solidFill>
                  <a:srgbClr val="9CA3AF"/>
                </a:solidFill>
              </a:rPr>
              <a:t>암 환자 유전체 변이 기반 암종 분류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A5D7DB-C312-43A9-889D-0152BC344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34125"/>
            <a:ext cx="4095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CA3AF"/>
                </a:solidFill>
              </a:defRPr>
            </a:pPr>
            <a:r>
              <a:rPr sz="900" b="0">
                <a:solidFill>
                  <a:srgbClr val="9CA3AF"/>
                </a:solidFill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1C8B94-F8CA-4345-BA8C-7F361B470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938212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</a:defRPr>
            </a:pPr>
            <a:r>
              <a:rPr sz="2700" b="1">
                <a:solidFill>
                  <a:srgbClr val="111827"/>
                </a:solidFill>
              </a:rPr>
              <a:t>각 변이가 어느 암종을 지지하는지 계산해</a:t>
            </a:r>
          </a:p>
          <a:p xmlns:a="http://schemas.openxmlformats.org/drawingml/2006/main">
            <a:pPr algn="l">
              <a:defRPr sz="2700" b="1">
                <a:solidFill>
                  <a:srgbClr val="111827"/>
                </a:solidFill>
              </a:defRPr>
            </a:pPr>
            <a:r>
              <a:rPr sz="2700" b="1">
                <a:solidFill>
                  <a:srgbClr val="111827"/>
                </a:solidFill>
              </a:rPr>
              <a:t>환자별 26개 증거 점수로 요약했습니다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6CF803-9A66-4206-A8A2-F53E40A20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2095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6D3614-2653-4693-B8D8-E948C24C2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71725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환자의 변이 목록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76AC94-6AF5-45C6-A340-59EBD8621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324100"/>
            <a:ext cx="552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9CA3AF"/>
                </a:solidFill>
              </a:defRPr>
            </a:pPr>
            <a:r>
              <a:rPr sz="2100" b="1">
                <a:solidFill>
                  <a:srgbClr val="9CA3AF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4A0E46-1122-4533-B797-F0A46D9BF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152650"/>
            <a:ext cx="2095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70504F-FC69-4243-840F-0BDF3E376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371725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암종별 발생 비교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B0F121-9D40-4018-984E-78918A6C5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324100"/>
            <a:ext cx="552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9CA3AF"/>
                </a:solidFill>
              </a:defRPr>
            </a:pPr>
            <a:r>
              <a:rPr sz="2100" b="1">
                <a:solidFill>
                  <a:srgbClr val="9CA3AF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A86E70-0F40-4784-83C7-C5D5BD32E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152650"/>
            <a:ext cx="2095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605455-230F-423E-8B57-C037E70D5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371725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26개 암종 점수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2E0E53-E097-4838-84CD-80ABD633E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324100"/>
            <a:ext cx="552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9CA3AF"/>
                </a:solidFill>
              </a:defRPr>
            </a:pPr>
            <a:r>
              <a:rPr sz="2100" b="1">
                <a:solidFill>
                  <a:srgbClr val="9CA3AF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BD3A63-8CC4-41FE-9AF1-E96E19B5E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152650"/>
            <a:ext cx="2095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9A041E-A1AE-46FF-9B2D-5F90F9219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371725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Logistic Regression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ACC6D4-035B-4CAF-B4C6-C0B7F25CD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004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5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8C53978-8522-4470-AF50-5B9BAE213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0"/>
            <a:ext cx="542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563EB"/>
                </a:solidFill>
              </a:defRPr>
            </a:pPr>
            <a:r>
              <a:rPr sz="1650" b="1">
                <a:solidFill>
                  <a:srgbClr val="2563EB"/>
                </a:solidFill>
              </a:rPr>
              <a:t>예시: 환자에게 변이 A와 변이 B가 있을 때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ECC93A4-0DDD-44B1-A4F9-76C3BA182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62400"/>
            <a:ext cx="54292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암종 1  │  변이 A +1.2  +  변이 B −0.3  =  +0.9</a:t>
            </a:r>
          </a:p>
          <a:p xmlns:a="http://schemas.openxmlformats.org/drawingml/2006/main">
            <a:pPr algn="l"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암종 2  │  변이 A −0.4  +  변이 B +1.1  =  +0.7</a:t>
            </a:r>
          </a:p>
          <a:p xmlns:a="http://schemas.openxmlformats.org/drawingml/2006/main">
            <a:pPr algn="l"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… 26개 암종마다 같은 방식으로 증거를 합산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38BD9A5-8B68-47DD-BF2D-040BA966A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5242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563EB"/>
                </a:solidFill>
              </a:defRPr>
            </a:pPr>
            <a:r>
              <a:rPr sz="1650" b="1">
                <a:solidFill>
                  <a:srgbClr val="2563EB"/>
                </a:solidFill>
              </a:rPr>
              <a:t>점수의 의미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2F4C7A0-6056-4AD9-9323-7DB22461B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962400"/>
            <a:ext cx="48577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+ 점수: 해당 암종에서 상대적으로 더 자주 관찰된 변이</a:t>
            </a:r>
          </a:p>
          <a:p xmlns:a="http://schemas.openxmlformats.org/drawingml/2006/main">
            <a:pPr algn="l"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− 점수: 해당 암종보다 다른 암종에서 더 자주 관찰된 변이</a:t>
            </a:r>
          </a:p>
          <a:p xmlns:a="http://schemas.openxmlformats.org/drawingml/2006/main">
            <a:pPr algn="l"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즉, 여러 변이의 찬성·반대 근거를 암종별로 비교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A56AF46-A5BA-403F-A0DA-1F1C821BA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91125"/>
            <a:ext cx="108204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E012987-E4B7-46CC-AEE4-09E2E276F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91125"/>
            <a:ext cx="47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F0530FE-7128-4A40-ADA4-3B9548710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391150"/>
            <a:ext cx="10239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Empirical-Bayes는 표본이 적은 희귀 변이의 극단적인 점수를 전체 발생률 쪽으로 보수적으로 조정하는 방법입니다. 희귀 신호는 남기되 우연한 과신은 줄였습니다.</a:t>
            </a:r>
          </a:p>
        </p:txBody>
      </p:sp>
    </p:spTree>
    <p:extLst>
      <p:ext uri="{BB962C8B-B14F-4D97-AF65-F5344CB8AC3E}">
        <p14:creationId xmlns:p14="http://schemas.microsoft.com/office/powerpoint/2010/main" val="98625655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2DEA630-B0D3-4CE1-AAC8-3BD7EDA69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TAKEAWAY 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F1D1AA-91B4-4947-BDB5-AD41A7768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531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5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134634-8C03-4D76-B5D9-3AE5C3A5B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428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CA3AF"/>
                </a:solidFill>
              </a:defRPr>
            </a:pPr>
            <a:r>
              <a:rPr sz="900" b="0">
                <a:solidFill>
                  <a:srgbClr val="9CA3AF"/>
                </a:solidFill>
              </a:rPr>
              <a:t>암 환자 유전체 변이 기반 암종 분류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FE5E42-1920-46BA-AC11-FCA779CF6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34125"/>
            <a:ext cx="4095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CA3AF"/>
                </a:solidFill>
              </a:defRPr>
            </a:pPr>
            <a:r>
              <a:rPr sz="900" b="0">
                <a:solidFill>
                  <a:srgbClr val="9CA3AF"/>
                </a:solidFill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AD22ED-4042-49A0-8C53-B91F00F36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8286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핵심은 피처 수가 아니라</a:t>
            </a:r>
          </a:p>
          <a:p xmlns:a="http://schemas.openxmlformats.org/drawingml/2006/main">
            <a:pPr algn="l"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변이를 해석하는 방식이었습니다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4D8457-6824-48CC-9516-92EAE0539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0300"/>
            <a:ext cx="2095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73B9AA-09FD-4FB2-A275-663D28360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19375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안전한 파싱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A3137D-180A-4FD4-821F-3DA2AFA72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571750"/>
            <a:ext cx="552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9CA3AF"/>
                </a:solidFill>
              </a:defRPr>
            </a:pPr>
            <a:r>
              <a:rPr sz="2100" b="1">
                <a:solidFill>
                  <a:srgbClr val="9CA3AF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576C35-8E0D-435A-B81F-183CB91E5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400300"/>
            <a:ext cx="2095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C96EC9-EB85-48D1-88D1-08282B43E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619375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변이 구조화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621132-46E9-4BA9-B652-D4AED7AAD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571750"/>
            <a:ext cx="552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9CA3AF"/>
                </a:solidFill>
              </a:defRPr>
            </a:pPr>
            <a:r>
              <a:rPr sz="2100" b="1">
                <a:solidFill>
                  <a:srgbClr val="9CA3AF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294F48-6822-4DEA-92A3-0B3EBC331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00300"/>
            <a:ext cx="2095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C3ACB0-CE9D-4908-8102-AC029B44F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619375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암종별 증거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16F9AB-3975-435E-8D06-6F935BEC1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571750"/>
            <a:ext cx="552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9CA3AF"/>
                </a:solidFill>
              </a:defRPr>
            </a:pPr>
            <a:r>
              <a:rPr sz="2100" b="1">
                <a:solidFill>
                  <a:srgbClr val="9CA3AF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CDB688-232B-4017-87B9-512A144B6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400300"/>
            <a:ext cx="2095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6EBBA5-41C5-4A8E-B968-578ED53DD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619375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선형 분류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1EF241-9BB0-4E48-8465-D4039B32E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3333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C6FA7EB-C8A9-41EE-A4FD-4DFD06D2C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05250"/>
            <a:ext cx="2914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563EB"/>
                </a:solidFill>
              </a:defRPr>
            </a:pPr>
            <a:r>
              <a:rPr sz="1575" b="1">
                <a:solidFill>
                  <a:srgbClr val="2563EB"/>
                </a:solidFill>
              </a:rPr>
              <a:t>1. 문자열 의미 보존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A6084D8-7290-4DA9-A58F-A93D165E3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05300"/>
            <a:ext cx="2914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74151"/>
                </a:solidFill>
              </a:defRPr>
            </a:pPr>
            <a:r>
              <a:rPr sz="1200" b="0">
                <a:solidFill>
                  <a:srgbClr val="374151"/>
                </a:solidFill>
              </a:rPr>
              <a:t>WT와 결측은 분리하고, 변이는 유형·위치·아미노산 변화까지 구조화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E77C980-3926-4B64-BC04-9D1DB84C4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714750"/>
            <a:ext cx="3333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2581A8A-8199-4689-8DD6-496CE8B7A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3905250"/>
            <a:ext cx="2914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563EB"/>
                </a:solidFill>
              </a:defRPr>
            </a:pPr>
            <a:r>
              <a:rPr sz="1575" b="1">
                <a:solidFill>
                  <a:srgbClr val="2563EB"/>
                </a:solidFill>
              </a:rPr>
              <a:t>2. 암종 특이 신호 추출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0D40D1D-FFDC-4D3B-96EF-C97E0FA8C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4305300"/>
            <a:ext cx="2914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74151"/>
                </a:solidFill>
              </a:defRPr>
            </a:pPr>
            <a:r>
              <a:rPr sz="1200" b="0">
                <a:solidFill>
                  <a:srgbClr val="374151"/>
                </a:solidFill>
              </a:rPr>
              <a:t>각 변이를 단순 열이 아니라 특정 암종을 지지하는 근거로 재표현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03F5E49-F2BB-4FF0-B420-83DDC693A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714750"/>
            <a:ext cx="3333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E6E81BE-310B-42D7-887A-74D093F9B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905250"/>
            <a:ext cx="2914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563EB"/>
                </a:solidFill>
              </a:defRPr>
            </a:pPr>
            <a:r>
              <a:rPr sz="1575" b="1">
                <a:solidFill>
                  <a:srgbClr val="2563EB"/>
                </a:solidFill>
              </a:rPr>
              <a:t>3. 희귀 변이 과신 방지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A2CEC04-7EF5-4A65-9DD6-2DE5C23C6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305300"/>
            <a:ext cx="2914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74151"/>
                </a:solidFill>
              </a:defRPr>
            </a:pPr>
            <a:r>
              <a:rPr sz="1200" b="0">
                <a:solidFill>
                  <a:srgbClr val="374151"/>
                </a:solidFill>
              </a:rPr>
              <a:t>Empirical-Bayes 수축으로 적은 표본의 극단적 신호를 안정화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95FC11A-98D0-489E-AE10-1A051EAD5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91125"/>
            <a:ext cx="108204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C6A6A0C-FE8D-4EA9-BA36-B584A322A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91125"/>
            <a:ext cx="47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08F4DC0-6F47-4470-B445-AEAD4E8EA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391150"/>
            <a:ext cx="10239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결론: 수천 개의 희소 변이를 무작정 늘리지 않고, ‘이 변이가 26개 암종 중 어디를 지지하는가’라는 판별 가능한 정보로 바꾼 것이 핵심입니다.</a:t>
            </a:r>
          </a:p>
        </p:txBody>
      </p:sp>
    </p:spTree>
    <p:extLst>
      <p:ext uri="{BB962C8B-B14F-4D97-AF65-F5344CB8AC3E}">
        <p14:creationId xmlns:p14="http://schemas.microsoft.com/office/powerpoint/2010/main" val="84793687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2026-08-06T08:15:46.6990000Z</dcterms:created>
  <dcterms:modified xsi:type="dcterms:W3CDTF">2026-08-06T08:15:46.6990000Z</dcterms:modified>
</coreProperties>
</file>